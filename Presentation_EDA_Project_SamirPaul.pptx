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34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841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16.png"/><Relationship Id="rId5" Type="http://schemas.openxmlformats.org/officeDocument/2006/relationships/image" Target="../media/image19.png"/><Relationship Id="rId10" Type="http://schemas.openxmlformats.org/officeDocument/2006/relationships/image" Target="../media/image15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6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16.png"/><Relationship Id="rId4" Type="http://schemas.openxmlformats.org/officeDocument/2006/relationships/image" Target="../media/image34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15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37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noFill/>
          <a:ln w="25400">
            <a:solidFill>
              <a:srgbClr val="F5A623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noFill/>
          <a:ln w="12700">
            <a:solidFill>
              <a:srgbClr val="F5A62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61695" y="743407"/>
            <a:ext cx="3114446" cy="91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981151" y="457200"/>
            <a:ext cx="2971800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4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PES UNIVERSITY — MTECH PROGRAM 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3425" r="-3425"/>
          <a:stretch/>
        </p:blipFill>
        <p:spPr>
          <a:xfrm>
            <a:off x="761695" y="493776"/>
            <a:ext cx="142646" cy="133502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-217" r="-217"/>
          <a:stretch/>
        </p:blipFill>
        <p:spPr>
          <a:xfrm>
            <a:off x="761695" y="1067105"/>
            <a:ext cx="1429207" cy="7589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1695" y="1447495"/>
            <a:ext cx="10840212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Big Mart Sales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dirty="0">
                <a:solidFill>
                  <a:srgbClr val="F4F6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EDA Summary</a:t>
            </a:r>
            <a:endParaRPr lang="en-US" sz="540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3108960"/>
            <a:ext cx="107826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F5A6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Exploratory Data Analysis | MTech Python Assignment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761695" y="3749040"/>
            <a:ext cx="6743700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comprehensive executive presentation covering project objective, data cleaning methodologies, performance patterns, commercial drivers, and strategic next analytical steps.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61695" y="5040173"/>
            <a:ext cx="3353105" cy="1209751"/>
          </a:xfrm>
          <a:prstGeom prst="roundRect">
            <a:avLst>
              <a:gd name="adj" fmla="val 952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000354" y="5358384"/>
            <a:ext cx="571500" cy="571500"/>
          </a:xfrm>
          <a:prstGeom prst="ellipse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90" r="-90"/>
          <a:stretch/>
        </p:blipFill>
        <p:spPr>
          <a:xfrm>
            <a:off x="1095451" y="5491886"/>
            <a:ext cx="381305" cy="30449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723644" y="5375758"/>
            <a:ext cx="10195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8,523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723644" y="5718658"/>
            <a:ext cx="10195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1" dirty="0">
                <a:solidFill>
                  <a:srgbClr val="CBD5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Rows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419295" y="5040173"/>
            <a:ext cx="3353105" cy="1209751"/>
          </a:xfrm>
          <a:prstGeom prst="roundRect">
            <a:avLst>
              <a:gd name="adj" fmla="val 952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4657954" y="5358384"/>
            <a:ext cx="571500" cy="571500"/>
          </a:xfrm>
          <a:prstGeom prst="ellipse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50" r="-50"/>
          <a:stretch/>
        </p:blipFill>
        <p:spPr>
          <a:xfrm>
            <a:off x="4828946" y="5491886"/>
            <a:ext cx="228600" cy="30449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381244" y="5375758"/>
            <a:ext cx="9720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5381244" y="5718658"/>
            <a:ext cx="9720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1" dirty="0">
                <a:solidFill>
                  <a:srgbClr val="CBD5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 Fields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8076895" y="5040173"/>
            <a:ext cx="3353105" cy="1209751"/>
          </a:xfrm>
          <a:prstGeom prst="roundRect">
            <a:avLst>
              <a:gd name="adj" fmla="val 952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8315554" y="5358384"/>
            <a:ext cx="533095" cy="571500"/>
          </a:xfrm>
          <a:prstGeom prst="roundRect">
            <a:avLst>
              <a:gd name="adj" fmla="val 171527"/>
            </a:avLst>
          </a:prstGeom>
          <a:solidFill>
            <a:srgbClr val="F5A62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8939" y="5491886"/>
            <a:ext cx="304495" cy="30449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000439" y="5278831"/>
            <a:ext cx="22887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Mixed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9000439" y="5621731"/>
            <a:ext cx="22768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1" dirty="0">
                <a:solidFill>
                  <a:srgbClr val="CBD5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+ Outlet Attributes</a:t>
            </a:r>
            <a:endParaRPr lang="en-US" sz="10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B9680448-4193-11D5-1D41-D77897CEDBE0}"/>
              </a:ext>
            </a:extLst>
          </p:cNvPr>
          <p:cNvSpPr txBox="1"/>
          <p:nvPr/>
        </p:nvSpPr>
        <p:spPr>
          <a:xfrm>
            <a:off x="4114800" y="481432"/>
            <a:ext cx="2971800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4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Submitted by Samir Paul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333195"/>
            <a:ext cx="47549" cy="619049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33349" y="1333195"/>
            <a:ext cx="11077956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dataset supports a clear retail story: outlet format matters, price matters, and cleaning was essential before interpretation.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257654"/>
            <a:ext cx="3610051" cy="1781251"/>
          </a:xfrm>
          <a:prstGeom prst="roundRect">
            <a:avLst>
              <a:gd name="adj" fmla="val 439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2257654"/>
            <a:ext cx="3610051" cy="38405"/>
          </a:xfrm>
          <a:prstGeom prst="roundRect">
            <a:avLst>
              <a:gd name="adj" fmla="val 203717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" y="2523744"/>
            <a:ext cx="304495" cy="3044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752551" y="2600554"/>
            <a:ext cx="171907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04595" y="2542946"/>
            <a:ext cx="1819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 Dominance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943454"/>
            <a:ext cx="3229661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Supermarket Type3</a:t>
            </a: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delivers the strongest average sales performance, significantly outperforming others, while </a:t>
            </a:r>
            <a:r>
              <a:rPr lang="en-US" sz="10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Grocery Store</a:t>
            </a: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is the weakest format by a wide margin. 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2194" y="2257654"/>
            <a:ext cx="3610051" cy="1781251"/>
          </a:xfrm>
          <a:prstGeom prst="roundRect">
            <a:avLst>
              <a:gd name="adj" fmla="val 439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292194" y="2257654"/>
            <a:ext cx="3610051" cy="38405"/>
          </a:xfrm>
          <a:prstGeom prst="roundRect">
            <a:avLst>
              <a:gd name="adj" fmla="val 203717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520794" y="2523744"/>
            <a:ext cx="304495" cy="30449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97603" y="2600554"/>
            <a:ext cx="152705" cy="1527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940503" y="2542946"/>
            <a:ext cx="121066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Drivers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520794" y="2943454"/>
            <a:ext cx="3229661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Item_MRP</a:t>
            </a: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is the strongest positive numeric signal for sales (correlation ≈ +0.57). Surprisingly, item visibility shows a mildly negative correlation with sales. 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128102" y="2257654"/>
            <a:ext cx="3610051" cy="1781251"/>
          </a:xfrm>
          <a:prstGeom prst="roundRect">
            <a:avLst>
              <a:gd name="adj" fmla="val 4392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8128102" y="2257654"/>
            <a:ext cx="3610051" cy="38405"/>
          </a:xfrm>
          <a:prstGeom prst="roundRect">
            <a:avLst>
              <a:gd name="adj" fmla="val 203717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8356702" y="2523744"/>
            <a:ext cx="304495" cy="304495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8423453" y="2600554"/>
            <a:ext cx="171907" cy="15270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775497" y="2542946"/>
            <a:ext cx="13213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356702" y="2943454"/>
            <a:ext cx="3229661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Raw data contained significant </a:t>
            </a:r>
            <a:r>
              <a:rPr lang="en-US" sz="10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values</a:t>
            </a: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inconsistent labels. A disciplined cleaning step was necessary to ensure accurate analysis and modeling. </a:t>
            </a:r>
            <a:endParaRPr lang="en-US" sz="10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" y="5043830"/>
            <a:ext cx="11277295" cy="1052474"/>
          </a:xfrm>
          <a:prstGeom prst="rect">
            <a:avLst/>
          </a:prstGeom>
        </p:spPr>
      </p:pic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 t="-2641" b="-2641"/>
          <a:stretch/>
        </p:blipFill>
        <p:spPr>
          <a:xfrm>
            <a:off x="10001707" y="4486046"/>
            <a:ext cx="1923898" cy="1800454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191610" y="5272430"/>
            <a:ext cx="9144" cy="599846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0"/>
          <p:cNvSpPr/>
          <p:nvPr/>
        </p:nvSpPr>
        <p:spPr>
          <a:xfrm>
            <a:off x="685800" y="5331866"/>
            <a:ext cx="476402" cy="476402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 l="-1403" r="-1403"/>
          <a:stretch/>
        </p:blipFill>
        <p:spPr>
          <a:xfrm>
            <a:off x="819302" y="5479085"/>
            <a:ext cx="209398" cy="181051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314907" y="5272430"/>
            <a:ext cx="18388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Format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1314907" y="5462626"/>
            <a:ext cx="18781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Supermarket Type3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314907" y="5676595"/>
            <a:ext cx="18388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3,694 avg sales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7928762" y="5272430"/>
            <a:ext cx="9144" cy="599846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5"/>
          <p:cNvSpPr/>
          <p:nvPr/>
        </p:nvSpPr>
        <p:spPr>
          <a:xfrm>
            <a:off x="4422953" y="5331866"/>
            <a:ext cx="476402" cy="476402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rcRect l="-505" r="-505"/>
          <a:stretch/>
        </p:blipFill>
        <p:spPr>
          <a:xfrm>
            <a:off x="4546397" y="5479085"/>
            <a:ext cx="228600" cy="181051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5051146" y="5272430"/>
            <a:ext cx="1353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Strongest Driver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5051146" y="546262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Item_MRP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5051146" y="5676595"/>
            <a:ext cx="13533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 ≈ +0.57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8160106" y="5331866"/>
            <a:ext cx="476402" cy="476402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307324" y="5479085"/>
            <a:ext cx="181051" cy="181051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788298" y="5272430"/>
            <a:ext cx="1848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Largest Cleaning Issue</a:t>
            </a:r>
            <a:endParaRPr lang="en-US" sz="900" dirty="0"/>
          </a:p>
        </p:txBody>
      </p:sp>
      <p:sp>
        <p:nvSpPr>
          <p:cNvPr id="41" name="Text 31"/>
          <p:cNvSpPr txBox="1"/>
          <p:nvPr/>
        </p:nvSpPr>
        <p:spPr>
          <a:xfrm>
            <a:off x="8788298" y="5462626"/>
            <a:ext cx="20912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Outlet_Size</a:t>
            </a:r>
            <a:endParaRPr lang="en-US" sz="1300" dirty="0"/>
          </a:p>
        </p:txBody>
      </p:sp>
      <p:sp>
        <p:nvSpPr>
          <p:cNvPr id="42" name="Text 32"/>
          <p:cNvSpPr txBox="1"/>
          <p:nvPr/>
        </p:nvSpPr>
        <p:spPr>
          <a:xfrm>
            <a:off x="8788298" y="5676595"/>
            <a:ext cx="18480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2,410 rows affected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34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35"/>
          <p:cNvSpPr txBox="1"/>
          <p:nvPr/>
        </p:nvSpPr>
        <p:spPr>
          <a:xfrm>
            <a:off x="457200" y="6580937"/>
            <a:ext cx="19751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 Mart Sales EDA Summary</a:t>
            </a:r>
            <a:endParaRPr lang="en-US" sz="900" dirty="0"/>
          </a:p>
        </p:txBody>
      </p:sp>
      <p:sp>
        <p:nvSpPr>
          <p:cNvPr id="46" name="Text 36"/>
          <p:cNvSpPr txBox="1"/>
          <p:nvPr/>
        </p:nvSpPr>
        <p:spPr>
          <a:xfrm>
            <a:off x="11665001" y="6580937"/>
            <a:ext cx="152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38"/>
          <p:cNvSpPr txBox="1"/>
          <p:nvPr/>
        </p:nvSpPr>
        <p:spPr>
          <a:xfrm>
            <a:off x="457200" y="304495"/>
            <a:ext cx="35725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56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9" name="Text 39"/>
          <p:cNvSpPr txBox="1"/>
          <p:nvPr/>
        </p:nvSpPr>
        <p:spPr>
          <a:xfrm>
            <a:off x="9857232" y="373075"/>
            <a:ext cx="19705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PES UNIVERSITY — MTECH </a:t>
            </a:r>
            <a:endParaRPr lang="en-US" sz="1000" dirty="0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647834" y="409651"/>
            <a:ext cx="133502" cy="133502"/>
          </a:xfrm>
          <a:prstGeom prst="rect">
            <a:avLst/>
          </a:prstGeom>
        </p:spPr>
      </p:pic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12"/>
          <a:srcRect t="-401" b="-401"/>
          <a:stretch/>
        </p:blipFill>
        <p:spPr>
          <a:xfrm>
            <a:off x="0" y="914400"/>
            <a:ext cx="12191695" cy="384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-840506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410005"/>
            <a:ext cx="38405" cy="609905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24205" y="1410005"/>
            <a:ext cx="72201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project used a retail sales dataset large enough to support cleaning, descriptive analysis, grouping, and relationship discovery.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95605" y="2400300"/>
            <a:ext cx="8306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Dataset Works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724205"/>
          </a:xfrm>
          <a:prstGeom prst="roundRect">
            <a:avLst>
              <a:gd name="adj" fmla="val 265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09905" y="2895905"/>
            <a:ext cx="304495" cy="30449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694944" y="2971800"/>
            <a:ext cx="133502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67105" y="2895905"/>
            <a:ext cx="4849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Assignment Compliant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67105" y="3124505"/>
            <a:ext cx="54205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Satisfies the assignment need for a reasonably large file (8,523 records).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3657601"/>
            <a:ext cx="8229600" cy="579172"/>
          </a:xfrm>
          <a:prstGeom prst="roundRect">
            <a:avLst>
              <a:gd name="adj" fmla="val 265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09905" y="3810305"/>
            <a:ext cx="304495" cy="30449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694944" y="3886200"/>
            <a:ext cx="133502" cy="1527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67105" y="3810305"/>
            <a:ext cx="6982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Rich Attribute Mix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067105" y="4038905"/>
            <a:ext cx="75538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Combines numeric fields (Weight, MRP, Sales) with categorical fields (Item Type, Outlet Type, Location).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57200" y="4359572"/>
            <a:ext cx="8229600" cy="724205"/>
          </a:xfrm>
          <a:prstGeom prst="roundRect">
            <a:avLst>
              <a:gd name="adj" fmla="val 265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694944" y="4486576"/>
            <a:ext cx="133502" cy="1527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67105" y="4410681"/>
            <a:ext cx="6658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Dual Insight Potential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067105" y="4713162"/>
            <a:ext cx="72301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Supports both operational (cleaning/inventory) and commercial (sales/revenue) analytical insights.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5103094"/>
            <a:ext cx="8229600" cy="1809598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647395" y="5829300"/>
            <a:ext cx="1828800" cy="267005"/>
          </a:xfrm>
          <a:prstGeom prst="roundRect">
            <a:avLst>
              <a:gd name="adj" fmla="val 342465"/>
            </a:avLst>
          </a:prstGeom>
          <a:solidFill>
            <a:srgbClr val="0D1B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rcRect l="-397" r="-397"/>
          <a:stretch/>
        </p:blipFill>
        <p:spPr>
          <a:xfrm>
            <a:off x="1965046" y="6691579"/>
            <a:ext cx="2020824" cy="28346"/>
          </a:xfrm>
          <a:prstGeom prst="rect">
            <a:avLst/>
          </a:prstGeom>
        </p:spPr>
      </p:pic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rcRect l="-393" r="-393"/>
          <a:stretch/>
        </p:blipFill>
        <p:spPr>
          <a:xfrm>
            <a:off x="5015484" y="6691579"/>
            <a:ext cx="2020824" cy="28346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9144000" y="952805"/>
            <a:ext cx="3047695" cy="552480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1"/>
          <p:cNvSpPr/>
          <p:nvPr/>
        </p:nvSpPr>
        <p:spPr>
          <a:xfrm>
            <a:off x="9144000" y="952805"/>
            <a:ext cx="9144" cy="5524805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9144000" y="952805"/>
            <a:ext cx="57607" cy="5524805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3"/>
          <p:cNvSpPr txBox="1"/>
          <p:nvPr/>
        </p:nvSpPr>
        <p:spPr>
          <a:xfrm>
            <a:off x="9715500" y="1333195"/>
            <a:ext cx="226954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Raw Data Issues </a:t>
            </a:r>
            <a:endParaRPr lang="en-US" sz="14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58554" y="1379830"/>
            <a:ext cx="181051" cy="181051"/>
          </a:xfrm>
          <a:prstGeom prst="rect">
            <a:avLst/>
          </a:prstGeom>
        </p:spPr>
      </p:pic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6"/>
          <a:srcRect l="-2" r="-2"/>
          <a:stretch/>
        </p:blipFill>
        <p:spPr>
          <a:xfrm>
            <a:off x="9458554" y="1836115"/>
            <a:ext cx="2428646" cy="106070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648749" y="1988820"/>
            <a:ext cx="216987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9648749" y="2232965"/>
            <a:ext cx="216255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Significant gaps found in </a:t>
            </a:r>
            <a:r>
              <a:rPr lang="en-US" sz="900" b="1" dirty="0">
                <a:solidFill>
                  <a:srgbClr val="7180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Outlet_Size</a:t>
            </a:r>
            <a:r>
              <a:rPr lang="en-US" sz="900" dirty="0">
                <a:solidFill>
                  <a:srgbClr val="7180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(2,410 rows) and </a:t>
            </a:r>
            <a:r>
              <a:rPr lang="en-US" sz="900" b="1" dirty="0">
                <a:solidFill>
                  <a:srgbClr val="7180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Item_Weight</a:t>
            </a:r>
            <a:r>
              <a:rPr lang="en-US" sz="900" dirty="0">
                <a:solidFill>
                  <a:srgbClr val="7180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6"/>
          <a:srcRect l="-2" r="-2"/>
          <a:stretch/>
        </p:blipFill>
        <p:spPr>
          <a:xfrm>
            <a:off x="9458554" y="3049524"/>
            <a:ext cx="2428646" cy="1060704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9648749" y="3202229"/>
            <a:ext cx="216987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Inconsistent Labels</a:t>
            </a:r>
            <a:endParaRPr lang="en-US" sz="1000" dirty="0"/>
          </a:p>
        </p:txBody>
      </p:sp>
      <p:sp>
        <p:nvSpPr>
          <p:cNvPr id="37" name="Text 27"/>
          <p:cNvSpPr txBox="1"/>
          <p:nvPr/>
        </p:nvSpPr>
        <p:spPr>
          <a:xfrm>
            <a:off x="9648749" y="3446374"/>
            <a:ext cx="216255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180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Item_Fat_Content</a:t>
            </a:r>
            <a:r>
              <a:rPr lang="en-US" sz="900" dirty="0">
                <a:solidFill>
                  <a:srgbClr val="7180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contained mixed labels like 'LF', 'low fat', and 'Low Fat'.</a:t>
            </a:r>
            <a:endParaRPr lang="en-US" sz="90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6"/>
          <a:srcRect l="-2" r="-2"/>
          <a:stretch/>
        </p:blipFill>
        <p:spPr>
          <a:xfrm>
            <a:off x="9458554" y="4262933"/>
            <a:ext cx="2428646" cy="1060704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9648749" y="4415638"/>
            <a:ext cx="216987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Logic Errors</a:t>
            </a:r>
            <a:endParaRPr lang="en-US" sz="1000" dirty="0"/>
          </a:p>
        </p:txBody>
      </p:sp>
      <p:sp>
        <p:nvSpPr>
          <p:cNvPr id="40" name="Text 29"/>
          <p:cNvSpPr txBox="1"/>
          <p:nvPr/>
        </p:nvSpPr>
        <p:spPr>
          <a:xfrm>
            <a:off x="9648749" y="4658868"/>
            <a:ext cx="216255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180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Item_Visibility</a:t>
            </a:r>
            <a:r>
              <a:rPr lang="en-US" sz="900" dirty="0">
                <a:solidFill>
                  <a:srgbClr val="7180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contained zero values, which is physically impossible for products in a store.</a:t>
            </a:r>
            <a:endParaRPr lang="en-US" sz="900" dirty="0"/>
          </a:p>
        </p:txBody>
      </p:sp>
      <p:sp>
        <p:nvSpPr>
          <p:cNvPr id="41" name="Shape 30"/>
          <p:cNvSpPr/>
          <p:nvPr/>
        </p:nvSpPr>
        <p:spPr>
          <a:xfrm>
            <a:off x="9458554" y="5476342"/>
            <a:ext cx="2428646" cy="1123798"/>
          </a:xfrm>
          <a:prstGeom prst="roundRect">
            <a:avLst>
              <a:gd name="adj" fmla="val 110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1"/>
          <p:cNvSpPr txBox="1"/>
          <p:nvPr/>
        </p:nvSpPr>
        <p:spPr>
          <a:xfrm>
            <a:off x="9620402" y="5638190"/>
            <a:ext cx="218998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43" name="Text 32"/>
          <p:cNvSpPr txBox="1"/>
          <p:nvPr/>
        </p:nvSpPr>
        <p:spPr>
          <a:xfrm>
            <a:off x="9620402" y="5866790"/>
            <a:ext cx="21817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"Cleaning was mandatory before any reliable analysis could begin."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34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35"/>
          <p:cNvSpPr txBox="1"/>
          <p:nvPr/>
        </p:nvSpPr>
        <p:spPr>
          <a:xfrm>
            <a:off x="457200" y="6580937"/>
            <a:ext cx="19751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 Mart Sales EDA Summary</a:t>
            </a:r>
            <a:endParaRPr lang="en-US" sz="900" dirty="0"/>
          </a:p>
        </p:txBody>
      </p:sp>
      <p:sp>
        <p:nvSpPr>
          <p:cNvPr id="47" name="Text 36"/>
          <p:cNvSpPr txBox="1"/>
          <p:nvPr/>
        </p:nvSpPr>
        <p:spPr>
          <a:xfrm>
            <a:off x="11665915" y="6580937"/>
            <a:ext cx="152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00" dirty="0"/>
          </a:p>
        </p:txBody>
      </p:sp>
      <p:sp>
        <p:nvSpPr>
          <p:cNvPr id="48" name="Shape 37"/>
          <p:cNvSpPr/>
          <p:nvPr/>
        </p:nvSpPr>
        <p:spPr>
          <a:xfrm>
            <a:off x="1106424" y="5407589"/>
            <a:ext cx="666598" cy="666598"/>
          </a:xfrm>
          <a:prstGeom prst="ellipse">
            <a:avLst/>
          </a:prstGeom>
          <a:solidFill>
            <a:srgbClr val="0D1B3E"/>
          </a:solidFill>
          <a:ln w="381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325880" y="5627045"/>
            <a:ext cx="228600" cy="228600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1070762" y="6189401"/>
            <a:ext cx="819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INSPECT</a:t>
            </a:r>
            <a:endParaRPr lang="en-US" sz="1200" dirty="0"/>
          </a:p>
        </p:txBody>
      </p:sp>
      <p:sp>
        <p:nvSpPr>
          <p:cNvPr id="51" name="Text 39"/>
          <p:cNvSpPr txBox="1"/>
          <p:nvPr/>
        </p:nvSpPr>
        <p:spPr>
          <a:xfrm>
            <a:off x="1067105" y="6455492"/>
            <a:ext cx="8961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 Quality</a:t>
            </a:r>
            <a:endParaRPr lang="en-US" sz="900" dirty="0"/>
          </a:p>
        </p:txBody>
      </p:sp>
      <p:sp>
        <p:nvSpPr>
          <p:cNvPr id="52" name="Shape 40"/>
          <p:cNvSpPr/>
          <p:nvPr/>
        </p:nvSpPr>
        <p:spPr>
          <a:xfrm>
            <a:off x="4167835" y="5407589"/>
            <a:ext cx="666598" cy="666598"/>
          </a:xfrm>
          <a:prstGeom prst="ellipse">
            <a:avLst/>
          </a:prstGeom>
          <a:solidFill>
            <a:srgbClr val="0D1B3E"/>
          </a:solidFill>
          <a:ln w="381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8"/>
          <a:srcRect t="-45" b="-45"/>
          <a:stretch/>
        </p:blipFill>
        <p:spPr>
          <a:xfrm>
            <a:off x="4372661" y="5627045"/>
            <a:ext cx="256946" cy="228600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4209898" y="6189401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</a:t>
            </a:r>
            <a:endParaRPr lang="en-US" sz="1200" dirty="0"/>
          </a:p>
        </p:txBody>
      </p:sp>
      <p:sp>
        <p:nvSpPr>
          <p:cNvPr id="55" name="Text 42"/>
          <p:cNvSpPr txBox="1"/>
          <p:nvPr/>
        </p:nvSpPr>
        <p:spPr>
          <a:xfrm>
            <a:off x="4138574" y="6455492"/>
            <a:ext cx="8522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Impute &amp; Fix</a:t>
            </a:r>
            <a:endParaRPr lang="en-US" sz="900" dirty="0"/>
          </a:p>
        </p:txBody>
      </p:sp>
      <p:sp>
        <p:nvSpPr>
          <p:cNvPr id="56" name="Shape 43"/>
          <p:cNvSpPr/>
          <p:nvPr/>
        </p:nvSpPr>
        <p:spPr>
          <a:xfrm>
            <a:off x="7299655" y="5407589"/>
            <a:ext cx="666598" cy="666598"/>
          </a:xfrm>
          <a:prstGeom prst="ellipse">
            <a:avLst/>
          </a:prstGeom>
          <a:solidFill>
            <a:srgbClr val="0D1B3E"/>
          </a:solidFill>
          <a:ln w="381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7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518197" y="5627045"/>
            <a:ext cx="228600" cy="228600"/>
          </a:xfrm>
          <a:prstGeom prst="rect">
            <a:avLst/>
          </a:prstGeom>
        </p:spPr>
      </p:pic>
      <p:sp>
        <p:nvSpPr>
          <p:cNvPr id="58" name="Text 44"/>
          <p:cNvSpPr txBox="1"/>
          <p:nvPr/>
        </p:nvSpPr>
        <p:spPr>
          <a:xfrm>
            <a:off x="7233818" y="6189401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</a:t>
            </a:r>
            <a:endParaRPr lang="en-US" sz="1200" dirty="0"/>
          </a:p>
        </p:txBody>
      </p:sp>
      <p:sp>
        <p:nvSpPr>
          <p:cNvPr id="59" name="Text 45"/>
          <p:cNvSpPr txBox="1"/>
          <p:nvPr/>
        </p:nvSpPr>
        <p:spPr>
          <a:xfrm>
            <a:off x="7189013" y="6455492"/>
            <a:ext cx="10661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 Insights</a:t>
            </a:r>
            <a:endParaRPr lang="en-US" sz="900" dirty="0"/>
          </a:p>
        </p:txBody>
      </p:sp>
      <p:sp>
        <p:nvSpPr>
          <p:cNvPr id="60" name="Shape 46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47"/>
          <p:cNvSpPr txBox="1"/>
          <p:nvPr/>
        </p:nvSpPr>
        <p:spPr>
          <a:xfrm>
            <a:off x="457200" y="304495"/>
            <a:ext cx="4515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56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Scope &amp; Dataset</a:t>
            </a:r>
            <a:endParaRPr lang="en-US" sz="2200" dirty="0"/>
          </a:p>
        </p:txBody>
      </p:sp>
      <p:sp>
        <p:nvSpPr>
          <p:cNvPr id="62" name="Text 48"/>
          <p:cNvSpPr txBox="1"/>
          <p:nvPr/>
        </p:nvSpPr>
        <p:spPr>
          <a:xfrm>
            <a:off x="9857232" y="373075"/>
            <a:ext cx="19705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PES UNIVERSITY — MTECH </a:t>
            </a:r>
            <a:endParaRPr lang="en-US" sz="1000" dirty="0"/>
          </a:p>
        </p:txBody>
      </p:sp>
      <p:pic>
        <p:nvPicPr>
          <p:cNvPr id="63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647834" y="409651"/>
            <a:ext cx="133502" cy="133502"/>
          </a:xfrm>
          <a:prstGeom prst="rect">
            <a:avLst/>
          </a:prstGeom>
        </p:spPr>
      </p:pic>
      <p:pic>
        <p:nvPicPr>
          <p:cNvPr id="64" name="Image 13" descr="preencoded.png"/>
          <p:cNvPicPr>
            <a:picLocks noChangeAspect="1"/>
          </p:cNvPicPr>
          <p:nvPr/>
        </p:nvPicPr>
        <p:blipFill>
          <a:blip r:embed="rId11"/>
          <a:srcRect t="-401" b="-401"/>
          <a:stretch/>
        </p:blipFill>
        <p:spPr>
          <a:xfrm>
            <a:off x="0" y="914400"/>
            <a:ext cx="12191695" cy="384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333195"/>
            <a:ext cx="47549" cy="619049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33349" y="1333195"/>
            <a:ext cx="706831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was converted into an analysis-ready version using consistent imputation rules and simple feature engineering.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257654"/>
            <a:ext cx="7267651" cy="761695"/>
          </a:xfrm>
          <a:prstGeom prst="roundRect">
            <a:avLst>
              <a:gd name="adj" fmla="val 240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2257654"/>
            <a:ext cx="38405" cy="761695"/>
          </a:xfrm>
          <a:prstGeom prst="roundRect">
            <a:avLst>
              <a:gd name="adj" fmla="val 476188"/>
            </a:avLst>
          </a:prstGeom>
          <a:solidFill>
            <a:srgbClr val="4299E1"/>
          </a:solidFill>
          <a:ln w="12700">
            <a:solidFill>
              <a:srgbClr val="4299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24205" y="2409444"/>
            <a:ext cx="457200" cy="457200"/>
          </a:xfrm>
          <a:prstGeom prst="ellipse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866851" y="2542946"/>
            <a:ext cx="171907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10005" y="2409444"/>
            <a:ext cx="34482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Standardized Labels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0005" y="2676449"/>
            <a:ext cx="39483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Unified Item_Fat_Content (LF / low fat → Low Fat).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3172054"/>
            <a:ext cx="7267651" cy="761695"/>
          </a:xfrm>
          <a:prstGeom prst="roundRect">
            <a:avLst>
              <a:gd name="adj" fmla="val 240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57200" y="3172054"/>
            <a:ext cx="38405" cy="761695"/>
          </a:xfrm>
          <a:prstGeom prst="roundRect">
            <a:avLst>
              <a:gd name="adj" fmla="val 476188"/>
            </a:avLst>
          </a:prstGeom>
          <a:solidFill>
            <a:srgbClr val="48BB78"/>
          </a:solidFill>
          <a:ln w="12700">
            <a:solidFill>
              <a:srgbClr val="48BB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724205" y="3323844"/>
            <a:ext cx="457200" cy="457200"/>
          </a:xfrm>
          <a:prstGeom prst="ellipse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3018" y="3457346"/>
            <a:ext cx="237744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10005" y="3323844"/>
            <a:ext cx="50292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Imputed Weights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410005" y="3590849"/>
            <a:ext cx="5600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Filled missing Item_Weight using item-level median, then overall median.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" y="4086454"/>
            <a:ext cx="7267651" cy="761695"/>
          </a:xfrm>
          <a:prstGeom prst="roundRect">
            <a:avLst>
              <a:gd name="adj" fmla="val 240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457200" y="4086454"/>
            <a:ext cx="38405" cy="761695"/>
          </a:xfrm>
          <a:prstGeom prst="roundRect">
            <a:avLst>
              <a:gd name="adj" fmla="val 476188"/>
            </a:avLst>
          </a:prstGeom>
          <a:solidFill>
            <a:srgbClr val="ED8936"/>
          </a:solidFill>
          <a:ln w="12700">
            <a:solidFill>
              <a:srgbClr val="ED89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724205" y="4238244"/>
            <a:ext cx="457200" cy="457200"/>
          </a:xfrm>
          <a:prstGeom prst="ellipse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843077" y="4371746"/>
            <a:ext cx="219456" cy="19019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10005" y="4238244"/>
            <a:ext cx="46387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Filled Outlet Size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410005" y="4505249"/>
            <a:ext cx="52102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Inferred missing Outlet_Size using outlet patterns and group mode.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57200" y="5000854"/>
            <a:ext cx="7267651" cy="761695"/>
          </a:xfrm>
          <a:prstGeom prst="roundRect">
            <a:avLst>
              <a:gd name="adj" fmla="val 240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457200" y="5000854"/>
            <a:ext cx="38405" cy="761695"/>
          </a:xfrm>
          <a:prstGeom prst="roundRect">
            <a:avLst>
              <a:gd name="adj" fmla="val 476188"/>
            </a:avLst>
          </a:prstGeom>
          <a:solidFill>
            <a:srgbClr val="9F7AEA"/>
          </a:solidFill>
          <a:ln w="12700">
            <a:solidFill>
              <a:srgbClr val="9F7A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724205" y="5152644"/>
            <a:ext cx="457200" cy="457200"/>
          </a:xfrm>
          <a:prstGeom prst="ellipse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843077" y="5286146"/>
            <a:ext cx="219456" cy="19019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410005" y="5152644"/>
            <a:ext cx="39721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Corrected Visibility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1410005" y="5419649"/>
            <a:ext cx="4543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Replaced zero Item_Visibility with non-zero item medians.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57200" y="5915254"/>
            <a:ext cx="7267651" cy="761695"/>
          </a:xfrm>
          <a:prstGeom prst="roundRect">
            <a:avLst>
              <a:gd name="adj" fmla="val 240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457200" y="5915254"/>
            <a:ext cx="38405" cy="761695"/>
          </a:xfrm>
          <a:prstGeom prst="roundRect">
            <a:avLst>
              <a:gd name="adj" fmla="val 476188"/>
            </a:avLst>
          </a:prstGeom>
          <a:solidFill>
            <a:srgbClr val="F56565"/>
          </a:solidFill>
          <a:ln w="12700">
            <a:solidFill>
              <a:srgbClr val="F5656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724205" y="6067044"/>
            <a:ext cx="457200" cy="457200"/>
          </a:xfrm>
          <a:prstGeom prst="ellipse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57707" y="6200546"/>
            <a:ext cx="190195" cy="19019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410005" y="6067044"/>
            <a:ext cx="54105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1410005" y="6334049"/>
            <a:ext cx="5982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Derived 4 new features: Outlet_Age, Item_Category, MRP_Band, Visibility_Band.</a:t>
            </a:r>
            <a:endParaRPr lang="en-US" sz="10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 l="-1" r="-1"/>
          <a:stretch/>
        </p:blipFill>
        <p:spPr>
          <a:xfrm>
            <a:off x="8102498" y="1333195"/>
            <a:ext cx="3631997" cy="3685946"/>
          </a:xfrm>
          <a:prstGeom prst="rect">
            <a:avLst/>
          </a:prstGeom>
        </p:spPr>
      </p:pic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rcRect l="-3038" r="-3038"/>
          <a:stretch/>
        </p:blipFill>
        <p:spPr>
          <a:xfrm>
            <a:off x="10429646" y="1162202"/>
            <a:ext cx="1476756" cy="1591056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8426196" y="1924812"/>
            <a:ext cx="2991002" cy="9144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0"/>
          <p:cNvSpPr txBox="1"/>
          <p:nvPr/>
        </p:nvSpPr>
        <p:spPr>
          <a:xfrm>
            <a:off x="8426196" y="1657807"/>
            <a:ext cx="3067812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Cleaning Impact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426196" y="2925166"/>
            <a:ext cx="29910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2"/>
          <p:cNvSpPr/>
          <p:nvPr/>
        </p:nvSpPr>
        <p:spPr>
          <a:xfrm>
            <a:off x="8426196" y="2276856"/>
            <a:ext cx="304495" cy="304495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8516722" y="2361895"/>
            <a:ext cx="123444" cy="133502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8883396" y="2162556"/>
            <a:ext cx="10671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2200" dirty="0"/>
          </a:p>
        </p:txBody>
      </p:sp>
      <p:sp>
        <p:nvSpPr>
          <p:cNvPr id="44" name="Text 34"/>
          <p:cNvSpPr txBox="1"/>
          <p:nvPr/>
        </p:nvSpPr>
        <p:spPr>
          <a:xfrm>
            <a:off x="8883396" y="2505456"/>
            <a:ext cx="11603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426196" y="3924605"/>
            <a:ext cx="29910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36"/>
          <p:cNvSpPr/>
          <p:nvPr/>
        </p:nvSpPr>
        <p:spPr>
          <a:xfrm>
            <a:off x="8426196" y="3276295"/>
            <a:ext cx="304495" cy="304495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8516722" y="3362249"/>
            <a:ext cx="123444" cy="133502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8883396" y="3161995"/>
            <a:ext cx="7909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2200" dirty="0"/>
          </a:p>
        </p:txBody>
      </p:sp>
      <p:sp>
        <p:nvSpPr>
          <p:cNvPr id="49" name="Text 38"/>
          <p:cNvSpPr txBox="1"/>
          <p:nvPr/>
        </p:nvSpPr>
        <p:spPr>
          <a:xfrm>
            <a:off x="8883396" y="3504895"/>
            <a:ext cx="8293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Duplicates</a:t>
            </a:r>
            <a:endParaRPr lang="en-US" sz="1000" dirty="0"/>
          </a:p>
        </p:txBody>
      </p:sp>
      <p:sp>
        <p:nvSpPr>
          <p:cNvPr id="50" name="Shape 39"/>
          <p:cNvSpPr/>
          <p:nvPr/>
        </p:nvSpPr>
        <p:spPr>
          <a:xfrm>
            <a:off x="8426196" y="4276649"/>
            <a:ext cx="304495" cy="304495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8516722" y="4362602"/>
            <a:ext cx="123444" cy="133502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8883396" y="4162349"/>
            <a:ext cx="1562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41"/>
          <p:cNvSpPr txBox="1"/>
          <p:nvPr/>
        </p:nvSpPr>
        <p:spPr>
          <a:xfrm>
            <a:off x="8883396" y="4505249"/>
            <a:ext cx="16605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Features Created</a:t>
            </a:r>
            <a:endParaRPr lang="en-US" sz="1000" dirty="0"/>
          </a:p>
        </p:txBody>
      </p:sp>
      <p:sp>
        <p:nvSpPr>
          <p:cNvPr id="54" name="Shape 42"/>
          <p:cNvSpPr/>
          <p:nvPr/>
        </p:nvSpPr>
        <p:spPr>
          <a:xfrm>
            <a:off x="8102498" y="5333695"/>
            <a:ext cx="3638398" cy="1343254"/>
          </a:xfrm>
          <a:prstGeom prst="roundRect">
            <a:avLst>
              <a:gd name="adj" fmla="val 7725"/>
            </a:avLst>
          </a:prstGeom>
          <a:solidFill>
            <a:srgbClr val="FFFAF0"/>
          </a:solidFill>
          <a:ln w="12700">
            <a:solidFill>
              <a:srgbClr val="FBD3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11"/>
          <a:srcRect l="-1773" r="-1773"/>
          <a:stretch/>
        </p:blipFill>
        <p:spPr>
          <a:xfrm>
            <a:off x="8341157" y="5609844"/>
            <a:ext cx="133502" cy="171907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8588045" y="5572354"/>
            <a:ext cx="2991002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"The cleaning process removed null-driven distortion, making subsequent charts easier to interpret and explain in business terms."</a:t>
            </a:r>
            <a:endParaRPr lang="en-US" sz="1000" dirty="0"/>
          </a:p>
        </p:txBody>
      </p:sp>
      <p:sp>
        <p:nvSpPr>
          <p:cNvPr id="57" name="Shape 44"/>
          <p:cNvSpPr/>
          <p:nvPr/>
        </p:nvSpPr>
        <p:spPr>
          <a:xfrm>
            <a:off x="0" y="7058254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45"/>
          <p:cNvSpPr/>
          <p:nvPr/>
        </p:nvSpPr>
        <p:spPr>
          <a:xfrm>
            <a:off x="0" y="7058254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46"/>
          <p:cNvSpPr txBox="1"/>
          <p:nvPr/>
        </p:nvSpPr>
        <p:spPr>
          <a:xfrm>
            <a:off x="457200" y="7161581"/>
            <a:ext cx="19751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 Mart Sales EDA Summary</a:t>
            </a:r>
            <a:endParaRPr lang="en-US" sz="900" dirty="0"/>
          </a:p>
        </p:txBody>
      </p:sp>
      <p:sp>
        <p:nvSpPr>
          <p:cNvPr id="60" name="Text 47"/>
          <p:cNvSpPr txBox="1"/>
          <p:nvPr/>
        </p:nvSpPr>
        <p:spPr>
          <a:xfrm>
            <a:off x="11654028" y="7161581"/>
            <a:ext cx="162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00" dirty="0"/>
          </a:p>
        </p:txBody>
      </p:sp>
      <p:sp>
        <p:nvSpPr>
          <p:cNvPr id="61" name="Shape 48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49"/>
          <p:cNvSpPr txBox="1"/>
          <p:nvPr/>
        </p:nvSpPr>
        <p:spPr>
          <a:xfrm>
            <a:off x="457200" y="304495"/>
            <a:ext cx="468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56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Cleaning Actions Applied</a:t>
            </a:r>
            <a:endParaRPr lang="en-US" sz="2200" dirty="0"/>
          </a:p>
        </p:txBody>
      </p:sp>
      <p:sp>
        <p:nvSpPr>
          <p:cNvPr id="63" name="Text 50"/>
          <p:cNvSpPr txBox="1"/>
          <p:nvPr/>
        </p:nvSpPr>
        <p:spPr>
          <a:xfrm>
            <a:off x="9857232" y="373075"/>
            <a:ext cx="19705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PES UNIVERSITY — MTECH </a:t>
            </a:r>
            <a:endParaRPr lang="en-US" sz="1000" dirty="0"/>
          </a:p>
        </p:txBody>
      </p:sp>
      <p:pic>
        <p:nvPicPr>
          <p:cNvPr id="64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7834" y="409651"/>
            <a:ext cx="133502" cy="133502"/>
          </a:xfrm>
          <a:prstGeom prst="rect">
            <a:avLst/>
          </a:prstGeom>
        </p:spPr>
      </p:pic>
      <p:pic>
        <p:nvPicPr>
          <p:cNvPr id="65" name="Image 12" descr="preencoded.png"/>
          <p:cNvPicPr>
            <a:picLocks noChangeAspect="1"/>
          </p:cNvPicPr>
          <p:nvPr/>
        </p:nvPicPr>
        <p:blipFill>
          <a:blip r:embed="rId13"/>
          <a:srcRect t="-401" b="-401"/>
          <a:stretch/>
        </p:blipFill>
        <p:spPr>
          <a:xfrm>
            <a:off x="0" y="914400"/>
            <a:ext cx="12191695" cy="384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257300"/>
            <a:ext cx="47549" cy="31455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33349" y="1257300"/>
            <a:ext cx="112014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Sales values are </a:t>
            </a:r>
            <a:r>
              <a:rPr lang="en-US" sz="15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right-skewed</a:t>
            </a: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and </a:t>
            </a:r>
            <a:r>
              <a:rPr lang="en-US" sz="15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 products</a:t>
            </a: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lead average sales among broad item categories. 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95882"/>
            <a:ext cx="5486400" cy="3333902"/>
          </a:xfrm>
          <a:prstGeom prst="roundRect">
            <a:avLst>
              <a:gd name="adj" fmla="val 188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85800" y="2024482"/>
            <a:ext cx="185897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Distribution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58791" y="2035454"/>
            <a:ext cx="761695" cy="228600"/>
          </a:xfrm>
          <a:prstGeom prst="roundRect">
            <a:avLst>
              <a:gd name="adj" fmla="val 13333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958791" y="2035454"/>
            <a:ext cx="81930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Histogram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195" b="-195"/>
          <a:stretch/>
        </p:blipFill>
        <p:spPr>
          <a:xfrm>
            <a:off x="685800" y="2427732"/>
            <a:ext cx="5029200" cy="2467051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29" r="-29"/>
          <a:stretch/>
        </p:blipFill>
        <p:spPr>
          <a:xfrm>
            <a:off x="4331513" y="3458261"/>
            <a:ext cx="1154887" cy="32369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17466" y="3458261"/>
            <a:ext cx="8577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Right-skewed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86146" y="3562502"/>
            <a:ext cx="114300" cy="1143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248095" y="1795882"/>
            <a:ext cx="5486400" cy="3333902"/>
          </a:xfrm>
          <a:prstGeom prst="roundRect">
            <a:avLst>
              <a:gd name="adj" fmla="val 188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0"/>
          <p:cNvSpPr txBox="1"/>
          <p:nvPr/>
        </p:nvSpPr>
        <p:spPr>
          <a:xfrm>
            <a:off x="6476695" y="2024482"/>
            <a:ext cx="312267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Sales by Product Category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0657332" y="2035454"/>
            <a:ext cx="857707" cy="228600"/>
          </a:xfrm>
          <a:prstGeom prst="roundRect">
            <a:avLst>
              <a:gd name="adj" fmla="val 13333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 txBox="1"/>
          <p:nvPr/>
        </p:nvSpPr>
        <p:spPr>
          <a:xfrm>
            <a:off x="10657332" y="2035454"/>
            <a:ext cx="9144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65F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Comparison</a:t>
            </a:r>
            <a:endParaRPr lang="en-US" sz="9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t="-195" b="-195"/>
          <a:stretch/>
        </p:blipFill>
        <p:spPr>
          <a:xfrm>
            <a:off x="6476695" y="2427732"/>
            <a:ext cx="5029200" cy="2467051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l="-16" r="-16"/>
          <a:stretch/>
        </p:blipFill>
        <p:spPr>
          <a:xfrm>
            <a:off x="457200" y="5349240"/>
            <a:ext cx="11277295" cy="1089050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 l="-50" r="-50"/>
          <a:stretch/>
        </p:blipFill>
        <p:spPr>
          <a:xfrm>
            <a:off x="819302" y="5732374"/>
            <a:ext cx="228600" cy="30449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276502" y="5532120"/>
            <a:ext cx="102687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22" name="Text 14"/>
          <p:cNvSpPr txBox="1"/>
          <p:nvPr/>
        </p:nvSpPr>
        <p:spPr>
          <a:xfrm>
            <a:off x="1276502" y="5722315"/>
            <a:ext cx="10230307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 items drive the highest average sales across all product categories, indicating they are the primary revenue engine.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0" y="6743700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6"/>
          <p:cNvSpPr/>
          <p:nvPr/>
        </p:nvSpPr>
        <p:spPr>
          <a:xfrm>
            <a:off x="0" y="6743700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7"/>
          <p:cNvSpPr txBox="1"/>
          <p:nvPr/>
        </p:nvSpPr>
        <p:spPr>
          <a:xfrm>
            <a:off x="457200" y="6847027"/>
            <a:ext cx="19751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 Mart Sales EDA Summary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11665915" y="6847027"/>
            <a:ext cx="152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0"/>
          <p:cNvSpPr txBox="1"/>
          <p:nvPr/>
        </p:nvSpPr>
        <p:spPr>
          <a:xfrm>
            <a:off x="457200" y="304495"/>
            <a:ext cx="6057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56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Distribution &amp; Product Mix</a:t>
            </a:r>
            <a:endParaRPr lang="en-US" sz="2200" dirty="0"/>
          </a:p>
        </p:txBody>
      </p:sp>
      <p:sp>
        <p:nvSpPr>
          <p:cNvPr id="29" name="Text 21"/>
          <p:cNvSpPr txBox="1"/>
          <p:nvPr/>
        </p:nvSpPr>
        <p:spPr>
          <a:xfrm>
            <a:off x="9857232" y="373075"/>
            <a:ext cx="19705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PES UNIVERSITY — MTECH </a:t>
            </a:r>
            <a:endParaRPr lang="en-US" sz="10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47834" y="409651"/>
            <a:ext cx="133502" cy="133502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rcRect t="-401" b="-401"/>
          <a:stretch/>
        </p:blipFill>
        <p:spPr>
          <a:xfrm>
            <a:off x="0" y="914400"/>
            <a:ext cx="12191695" cy="384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257300"/>
            <a:ext cx="47549" cy="31455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33349" y="1257300"/>
            <a:ext cx="116878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Store format and location tier explain substantial </a:t>
            </a:r>
            <a:r>
              <a:rPr lang="en-US" sz="15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average-sales differences</a:t>
            </a: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across the retail network. 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95882"/>
            <a:ext cx="5486400" cy="2752344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5800" y="2358238"/>
            <a:ext cx="50292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85800" y="2024482"/>
            <a:ext cx="26389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Sales by Outlet Type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842" b="-842"/>
          <a:stretch/>
        </p:blipFill>
        <p:spPr>
          <a:xfrm>
            <a:off x="5524805" y="2063801"/>
            <a:ext cx="190195" cy="171907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260" b="-260"/>
          <a:stretch/>
        </p:blipFill>
        <p:spPr>
          <a:xfrm>
            <a:off x="685800" y="2513686"/>
            <a:ext cx="5029200" cy="180959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38751" y="2404872"/>
            <a:ext cx="1000354" cy="247802"/>
          </a:xfrm>
          <a:prstGeom prst="roundRect">
            <a:avLst>
              <a:gd name="adj" fmla="val 11354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 txBox="1"/>
          <p:nvPr/>
        </p:nvSpPr>
        <p:spPr>
          <a:xfrm>
            <a:off x="4724705" y="2452421"/>
            <a:ext cx="9546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Leader: Type3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248095" y="1795882"/>
            <a:ext cx="5486400" cy="2752344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6476695" y="2358238"/>
            <a:ext cx="50292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 txBox="1"/>
          <p:nvPr/>
        </p:nvSpPr>
        <p:spPr>
          <a:xfrm>
            <a:off x="6476695" y="2024482"/>
            <a:ext cx="19815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by Location Tier</a:t>
            </a:r>
            <a:endParaRPr lang="en-US" sz="13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t="-2222" b="-2222"/>
          <a:stretch/>
        </p:blipFill>
        <p:spPr>
          <a:xfrm>
            <a:off x="11382451" y="2063801"/>
            <a:ext cx="123444" cy="171907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t="-260" b="-260"/>
          <a:stretch/>
        </p:blipFill>
        <p:spPr>
          <a:xfrm>
            <a:off x="6476695" y="2513686"/>
            <a:ext cx="5029200" cy="180959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57200" y="4775911"/>
            <a:ext cx="11277295" cy="1399946"/>
          </a:xfrm>
          <a:prstGeom prst="roundRect">
            <a:avLst>
              <a:gd name="adj" fmla="val 71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3"/>
          <p:cNvSpPr/>
          <p:nvPr/>
        </p:nvSpPr>
        <p:spPr>
          <a:xfrm>
            <a:off x="457200" y="4775911"/>
            <a:ext cx="57607" cy="1399946"/>
          </a:xfrm>
          <a:prstGeom prst="roundRect">
            <a:avLst>
              <a:gd name="adj" fmla="val 172768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3407" y="5021885"/>
            <a:ext cx="190195" cy="19019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09498" y="5013655"/>
            <a:ext cx="17529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4" dirty="0">
                <a:solidFill>
                  <a:srgbClr val="F5A6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Readout</a:t>
            </a: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3407" y="5402275"/>
            <a:ext cx="152705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009498" y="5372100"/>
            <a:ext cx="32296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Strongest Format</a:t>
            </a:r>
            <a:endParaRPr lang="en-US" sz="1000" dirty="0"/>
          </a:p>
        </p:txBody>
      </p:sp>
      <p:sp>
        <p:nvSpPr>
          <p:cNvPr id="24" name="Text 16"/>
          <p:cNvSpPr txBox="1"/>
          <p:nvPr/>
        </p:nvSpPr>
        <p:spPr>
          <a:xfrm>
            <a:off x="1009498" y="5600700"/>
            <a:ext cx="3191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Supermarket Type3 outperforms all others significantly (~3.7k avg).</a:t>
            </a:r>
            <a:endParaRPr lang="en-US" sz="10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29354" y="5402275"/>
            <a:ext cx="152705" cy="15270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4695444" y="5372100"/>
            <a:ext cx="32296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Weakest Format</a:t>
            </a:r>
            <a:endParaRPr lang="en-US" sz="1000" dirty="0"/>
          </a:p>
        </p:txBody>
      </p:sp>
      <p:sp>
        <p:nvSpPr>
          <p:cNvPr id="27" name="Text 18"/>
          <p:cNvSpPr txBox="1"/>
          <p:nvPr/>
        </p:nvSpPr>
        <p:spPr>
          <a:xfrm>
            <a:off x="4695444" y="5600700"/>
            <a:ext cx="3191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Grocery Stores materially trail supermarkets, showing minimal volume.</a:t>
            </a:r>
            <a:endParaRPr lang="en-US" sz="10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115300" y="5402275"/>
            <a:ext cx="152705" cy="15270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8382305" y="5372100"/>
            <a:ext cx="32296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 Insight</a:t>
            </a:r>
            <a:endParaRPr lang="en-US" sz="1000" dirty="0"/>
          </a:p>
        </p:txBody>
      </p:sp>
      <p:sp>
        <p:nvSpPr>
          <p:cNvPr id="30" name="Text 20"/>
          <p:cNvSpPr txBox="1"/>
          <p:nvPr/>
        </p:nvSpPr>
        <p:spPr>
          <a:xfrm>
            <a:off x="8382305" y="5600700"/>
            <a:ext cx="3191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2 leads marginally, with Tier 3 close behind; Tier 1 lags.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2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3"/>
          <p:cNvSpPr txBox="1"/>
          <p:nvPr/>
        </p:nvSpPr>
        <p:spPr>
          <a:xfrm>
            <a:off x="457200" y="6580937"/>
            <a:ext cx="19751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 Mart Sales EDA Summary</a:t>
            </a:r>
            <a:endParaRPr lang="en-US" sz="900" dirty="0"/>
          </a:p>
        </p:txBody>
      </p:sp>
      <p:sp>
        <p:nvSpPr>
          <p:cNvPr id="34" name="Text 24"/>
          <p:cNvSpPr txBox="1"/>
          <p:nvPr/>
        </p:nvSpPr>
        <p:spPr>
          <a:xfrm>
            <a:off x="11660429" y="6580937"/>
            <a:ext cx="152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900" dirty="0"/>
          </a:p>
        </p:txBody>
      </p:sp>
      <p:sp>
        <p:nvSpPr>
          <p:cNvPr id="35" name="Shape 25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26"/>
          <p:cNvSpPr txBox="1"/>
          <p:nvPr/>
        </p:nvSpPr>
        <p:spPr>
          <a:xfrm>
            <a:off x="457200" y="304495"/>
            <a:ext cx="6134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56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Outlet Performance Differences</a:t>
            </a:r>
            <a:endParaRPr lang="en-US" sz="2200" dirty="0"/>
          </a:p>
        </p:txBody>
      </p:sp>
      <p:sp>
        <p:nvSpPr>
          <p:cNvPr id="37" name="Text 27"/>
          <p:cNvSpPr txBox="1"/>
          <p:nvPr/>
        </p:nvSpPr>
        <p:spPr>
          <a:xfrm>
            <a:off x="9857232" y="373075"/>
            <a:ext cx="19705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PES UNIVERSITY — MTECH </a:t>
            </a:r>
            <a:endParaRPr lang="en-US" sz="100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647834" y="409651"/>
            <a:ext cx="133502" cy="133502"/>
          </a:xfrm>
          <a:prstGeom prst="rect">
            <a:avLst/>
          </a:prstGeom>
        </p:spPr>
      </p:pic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2"/>
          <a:srcRect t="-401" b="-401"/>
          <a:stretch/>
        </p:blipFill>
        <p:spPr>
          <a:xfrm>
            <a:off x="0" y="914400"/>
            <a:ext cx="12191695" cy="384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257300"/>
            <a:ext cx="47549" cy="31455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33349" y="1257300"/>
            <a:ext cx="116878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 strongest numeric relationship is between </a:t>
            </a:r>
            <a:r>
              <a:rPr lang="en-US" sz="15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item price</a:t>
            </a: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sales; other numeric signals are much weaker. 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95882"/>
            <a:ext cx="4486046" cy="4324198"/>
          </a:xfrm>
          <a:prstGeom prst="roundRect">
            <a:avLst>
              <a:gd name="adj" fmla="val 11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5800" y="2358238"/>
            <a:ext cx="402884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85800" y="2024482"/>
            <a:ext cx="16550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Correlation Matrix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38167" y="2063801"/>
            <a:ext cx="171907" cy="171907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589581"/>
          <a:ext cx="4023360" cy="3296410"/>
        </p:xfrm>
        <a:graphic>
          <a:graphicData uri="http://schemas.openxmlformats.org/drawingml/2006/table">
            <a:tbl>
              <a:tblPr/>
              <a:tblGrid>
                <a:gridCol w="1574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7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92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0" b="1" dirty="0">
                          <a:solidFill>
                            <a:srgbClr val="71809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FEATURE PAIR</a:t>
                      </a:r>
                      <a:endParaRPr lang="en-US" sz="96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5895" marR="7589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0" b="1" dirty="0">
                          <a:solidFill>
                            <a:srgbClr val="71809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CORRELATION</a:t>
                      </a:r>
                      <a:endParaRPr lang="en-US" sz="96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5895" marR="7589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60" b="1" dirty="0">
                          <a:solidFill>
                            <a:srgbClr val="71809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STRENGTH</a:t>
                      </a:r>
                      <a:endParaRPr lang="en-US" sz="96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5895" marR="75895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2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F293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Item_MRP ↔ Sales</a:t>
                      </a:r>
                      <a:endParaRPr lang="en-US" sz="114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5895" marR="75895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22543D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+0.57</a:t>
                      </a:r>
                      <a:endParaRPr lang="en-US" sz="1200" dirty="0"/>
                    </a:p>
                  </a:txBody>
                  <a:tcPr marL="75895" marR="75895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04785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STRONG POSITIVE</a:t>
                      </a:r>
                      <a:endParaRPr lang="en-US" sz="114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5895" marR="75895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2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F293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Item_Visibility ↔ Sales</a:t>
                      </a:r>
                      <a:endParaRPr lang="en-US" sz="114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5895" marR="75895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82272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−0.13</a:t>
                      </a:r>
                      <a:endParaRPr lang="en-US" sz="1200" dirty="0"/>
                    </a:p>
                  </a:txBody>
                  <a:tcPr marL="75895" marR="75895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B91C1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WEAK NEGATIVE</a:t>
                      </a:r>
                      <a:endParaRPr lang="en-US" sz="114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5895" marR="75895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2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F293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Item_Weight ↔ Sales</a:t>
                      </a:r>
                      <a:endParaRPr lang="en-US" sz="114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5895" marR="75895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4A556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~0.01</a:t>
                      </a:r>
                      <a:endParaRPr lang="en-US" sz="1200" dirty="0"/>
                    </a:p>
                  </a:txBody>
                  <a:tcPr marL="75895" marR="75895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6B728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NEGLIGIBLE</a:t>
                      </a:r>
                      <a:endParaRPr lang="en-US" sz="114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5895" marR="75895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2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F293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Outlet_Age ↔ Sales</a:t>
                      </a:r>
                      <a:endParaRPr lang="en-US" sz="114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5895" marR="75895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4A556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~0.05</a:t>
                      </a:r>
                      <a:endParaRPr lang="en-US" sz="1200" dirty="0"/>
                    </a:p>
                  </a:txBody>
                  <a:tcPr marL="75895" marR="75895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6B728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NEGLIGIBLE</a:t>
                      </a:r>
                      <a:endParaRPr lang="en-US" sz="114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5895" marR="75895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242255" y="1795882"/>
            <a:ext cx="6495898" cy="4324198"/>
          </a:xfrm>
          <a:prstGeom prst="roundRect">
            <a:avLst>
              <a:gd name="adj" fmla="val 11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5470855" y="2358238"/>
            <a:ext cx="60386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 txBox="1"/>
          <p:nvPr/>
        </p:nvSpPr>
        <p:spPr>
          <a:xfrm>
            <a:off x="5470855" y="2024482"/>
            <a:ext cx="323149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Item_MRP vs. Item_Outlet_Sales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0686593" y="2035454"/>
            <a:ext cx="828446" cy="228600"/>
          </a:xfrm>
          <a:prstGeom prst="roundRect">
            <a:avLst>
              <a:gd name="adj" fmla="val 13333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 txBox="1"/>
          <p:nvPr/>
        </p:nvSpPr>
        <p:spPr>
          <a:xfrm>
            <a:off x="10686593" y="2035454"/>
            <a:ext cx="8860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Scatter Plot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71" r="-71"/>
          <a:stretch/>
        </p:blipFill>
        <p:spPr>
          <a:xfrm>
            <a:off x="5470855" y="2513686"/>
            <a:ext cx="6038698" cy="3372307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06510" y="4875581"/>
            <a:ext cx="2247595" cy="476402"/>
          </a:xfrm>
          <a:prstGeom prst="roundRect">
            <a:avLst>
              <a:gd name="adj" fmla="val 3071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 txBox="1"/>
          <p:nvPr/>
        </p:nvSpPr>
        <p:spPr>
          <a:xfrm>
            <a:off x="9191549" y="4961534"/>
            <a:ext cx="21598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Trend: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9191549" y="5114239"/>
            <a:ext cx="24149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Higher Price → Higher Sales Volume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57200" y="6343193"/>
            <a:ext cx="11277295" cy="819302"/>
          </a:xfrm>
          <a:prstGeom prst="roundRect">
            <a:avLst>
              <a:gd name="adj" fmla="val 20764"/>
            </a:avLst>
          </a:prstGeom>
          <a:solidFill>
            <a:srgbClr val="0D1B3E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457200" y="6343193"/>
            <a:ext cx="57607" cy="819302"/>
          </a:xfrm>
          <a:prstGeom prst="roundRect">
            <a:avLst>
              <a:gd name="adj" fmla="val 295313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 txBox="1"/>
          <p:nvPr/>
        </p:nvSpPr>
        <p:spPr>
          <a:xfrm>
            <a:off x="819302" y="6525158"/>
            <a:ext cx="3743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8" dirty="0">
                <a:solidFill>
                  <a:srgbClr val="F5A6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Driver Signal Strength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819302" y="6784848"/>
            <a:ext cx="42885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"Price is the single most important numeric predictor."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486400" y="6538874"/>
            <a:ext cx="1971446" cy="428854"/>
          </a:xfrm>
          <a:prstGeom prst="roundRect">
            <a:avLst>
              <a:gd name="adj" fmla="val 56859"/>
            </a:avLst>
          </a:prstGeom>
          <a:solidFill>
            <a:srgbClr val="48BB78">
              <a:alpha val="20000"/>
            </a:srgbClr>
          </a:solidFill>
          <a:ln w="127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648249" y="6664147"/>
            <a:ext cx="171907" cy="17190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934456" y="6643116"/>
            <a:ext cx="5431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+0.57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468466" y="6691579"/>
            <a:ext cx="9144" cy="14264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 txBox="1"/>
          <p:nvPr/>
        </p:nvSpPr>
        <p:spPr>
          <a:xfrm>
            <a:off x="6553505" y="6691579"/>
            <a:ext cx="811073" cy="1435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F3D0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Price (MRP)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7678217" y="6538874"/>
            <a:ext cx="1790395" cy="428854"/>
          </a:xfrm>
          <a:prstGeom prst="roundRect">
            <a:avLst>
              <a:gd name="adj" fmla="val 56859"/>
            </a:avLst>
          </a:prstGeom>
          <a:solidFill>
            <a:srgbClr val="F56565">
              <a:alpha val="20000"/>
            </a:srgbClr>
          </a:solidFill>
          <a:ln w="12700">
            <a:solidFill>
              <a:srgbClr val="F5656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7840066" y="6664147"/>
            <a:ext cx="190195" cy="171907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145475" y="6643116"/>
            <a:ext cx="4992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−0.13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8640166" y="6691579"/>
            <a:ext cx="9144" cy="14264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6"/>
          <p:cNvSpPr txBox="1"/>
          <p:nvPr/>
        </p:nvSpPr>
        <p:spPr>
          <a:xfrm>
            <a:off x="8725205" y="6691579"/>
            <a:ext cx="658368" cy="1435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ECACA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Visibility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9693554" y="6538874"/>
            <a:ext cx="1742846" cy="428854"/>
          </a:xfrm>
          <a:prstGeom prst="roundRect">
            <a:avLst>
              <a:gd name="adj" fmla="val 56859"/>
            </a:avLst>
          </a:prstGeom>
          <a:solidFill>
            <a:srgbClr val="A0AEC0">
              <a:alpha val="20000"/>
            </a:srgbClr>
          </a:solidFill>
          <a:ln w="12700">
            <a:solidFill>
              <a:srgbClr val="A0AE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855403" y="6664147"/>
            <a:ext cx="171907" cy="171907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0141610" y="6643116"/>
            <a:ext cx="5623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~0.00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10699394" y="6691579"/>
            <a:ext cx="9144" cy="14264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0"/>
          <p:cNvSpPr txBox="1"/>
          <p:nvPr/>
        </p:nvSpPr>
        <p:spPr>
          <a:xfrm>
            <a:off x="10784434" y="6691579"/>
            <a:ext cx="563270" cy="1435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Others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0" y="7462418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2"/>
          <p:cNvSpPr/>
          <p:nvPr/>
        </p:nvSpPr>
        <p:spPr>
          <a:xfrm>
            <a:off x="0" y="7462418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3"/>
          <p:cNvSpPr txBox="1"/>
          <p:nvPr/>
        </p:nvSpPr>
        <p:spPr>
          <a:xfrm>
            <a:off x="457200" y="7566660"/>
            <a:ext cx="19751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 Mart Sales EDA Summary</a:t>
            </a:r>
            <a:endParaRPr lang="en-US" sz="900" dirty="0"/>
          </a:p>
        </p:txBody>
      </p:sp>
      <p:sp>
        <p:nvSpPr>
          <p:cNvPr id="42" name="Text 34"/>
          <p:cNvSpPr txBox="1"/>
          <p:nvPr/>
        </p:nvSpPr>
        <p:spPr>
          <a:xfrm>
            <a:off x="11663172" y="7566660"/>
            <a:ext cx="152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6"/>
          <p:cNvSpPr txBox="1"/>
          <p:nvPr/>
        </p:nvSpPr>
        <p:spPr>
          <a:xfrm>
            <a:off x="457200" y="304495"/>
            <a:ext cx="60057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56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Price &amp; Numeric Drivers of Sales</a:t>
            </a:r>
            <a:endParaRPr lang="en-US" sz="2200" dirty="0"/>
          </a:p>
        </p:txBody>
      </p:sp>
      <p:sp>
        <p:nvSpPr>
          <p:cNvPr id="45" name="Text 37"/>
          <p:cNvSpPr txBox="1"/>
          <p:nvPr/>
        </p:nvSpPr>
        <p:spPr>
          <a:xfrm>
            <a:off x="9857232" y="373075"/>
            <a:ext cx="19705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PES UNIVERSITY — MTECH </a:t>
            </a:r>
            <a:endParaRPr lang="en-US" sz="10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647834" y="409651"/>
            <a:ext cx="133502" cy="133502"/>
          </a:xfrm>
          <a:prstGeom prst="rect">
            <a:avLst/>
          </a:prstGeom>
        </p:spPr>
      </p:pic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rcRect t="-401" b="-401"/>
          <a:stretch/>
        </p:blipFill>
        <p:spPr>
          <a:xfrm>
            <a:off x="0" y="914400"/>
            <a:ext cx="12191695" cy="384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257300"/>
            <a:ext cx="47549" cy="619049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33349" y="1257300"/>
            <a:ext cx="11077956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Higher </a:t>
            </a:r>
            <a:r>
              <a:rPr lang="en-US" sz="15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price bands</a:t>
            </a: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a small set of </a:t>
            </a:r>
            <a:r>
              <a:rPr lang="en-US" sz="15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outlets</a:t>
            </a: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account for the strongest average sales signatures in the dataset. 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04949"/>
            <a:ext cx="5486400" cy="3066898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85800" y="2333549"/>
            <a:ext cx="26974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Sales by MRP Band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84141" y="2345436"/>
            <a:ext cx="933602" cy="228600"/>
          </a:xfrm>
          <a:prstGeom prst="roundRect">
            <a:avLst>
              <a:gd name="adj" fmla="val 13333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784141" y="2345436"/>
            <a:ext cx="9912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Price Analysis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212" b="-212"/>
          <a:stretch/>
        </p:blipFill>
        <p:spPr>
          <a:xfrm>
            <a:off x="685800" y="2737714"/>
            <a:ext cx="5029200" cy="220004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48095" y="2104949"/>
            <a:ext cx="5486400" cy="3066898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6476695" y="2333549"/>
            <a:ext cx="258226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Outlets by Avg Sales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683850" y="2345436"/>
            <a:ext cx="828446" cy="228600"/>
          </a:xfrm>
          <a:prstGeom prst="roundRect">
            <a:avLst>
              <a:gd name="adj" fmla="val 13333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10683850" y="2345436"/>
            <a:ext cx="8860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65F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Ranked List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-212" b="-212"/>
          <a:stretch/>
        </p:blipFill>
        <p:spPr>
          <a:xfrm>
            <a:off x="6476695" y="2737714"/>
            <a:ext cx="5029200" cy="2200046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16" r="-16"/>
          <a:stretch/>
        </p:blipFill>
        <p:spPr>
          <a:xfrm>
            <a:off x="457200" y="5392217"/>
            <a:ext cx="11277295" cy="1089050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9302" y="5774436"/>
            <a:ext cx="304495" cy="30449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52398" y="5575097"/>
            <a:ext cx="10191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 Insight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1352398" y="5765292"/>
            <a:ext cx="1015441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Higher MRP bands consistently outperform lower price bands in average item sales, indicating premium items drive revenue efficiency.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0" y="6786677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0" y="6786677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 txBox="1"/>
          <p:nvPr/>
        </p:nvSpPr>
        <p:spPr>
          <a:xfrm>
            <a:off x="457200" y="6890004"/>
            <a:ext cx="19751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 Mart Sales EDA Summary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656771" y="6890004"/>
            <a:ext cx="162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 txBox="1"/>
          <p:nvPr/>
        </p:nvSpPr>
        <p:spPr>
          <a:xfrm>
            <a:off x="457200" y="304495"/>
            <a:ext cx="40489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56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 Hotspots</a:t>
            </a:r>
            <a:endParaRPr lang="en-US" sz="2200" dirty="0"/>
          </a:p>
        </p:txBody>
      </p:sp>
      <p:sp>
        <p:nvSpPr>
          <p:cNvPr id="26" name="Text 20"/>
          <p:cNvSpPr txBox="1"/>
          <p:nvPr/>
        </p:nvSpPr>
        <p:spPr>
          <a:xfrm>
            <a:off x="9857232" y="373075"/>
            <a:ext cx="19705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PES UNIVERSITY — MTECH </a:t>
            </a:r>
            <a:endParaRPr lang="en-US" sz="10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647834" y="409651"/>
            <a:ext cx="133502" cy="133502"/>
          </a:xfrm>
          <a:prstGeom prst="rect">
            <a:avLst/>
          </a:prstGeom>
        </p:spPr>
      </p:pic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914400"/>
            <a:ext cx="12191695" cy="384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882</Words>
  <Application>Microsoft Office PowerPoint</Application>
  <PresentationFormat>Widescreen</PresentationFormat>
  <Paragraphs>161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Samir Paul</cp:lastModifiedBy>
  <cp:revision>3</cp:revision>
  <dcterms:created xsi:type="dcterms:W3CDTF">2026-03-10T05:45:01Z</dcterms:created>
  <dcterms:modified xsi:type="dcterms:W3CDTF">2026-03-14T15:49:14Z</dcterms:modified>
</cp:coreProperties>
</file>